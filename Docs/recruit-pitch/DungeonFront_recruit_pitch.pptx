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던전프론트입니다. 던전 앞 대장간을 공장으로 키우는 게임입니다. 앞에서는 이 게임이 무엇인지, 뒤에서는 지금 새로 붙는 던전 컨텐츠를 말씀드리겠습니다.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한 줄입니다. 공장에서 장비를 만들고, 그 장비를 들고 던전에 들어갑니다. 납품만 하는 경영 게임이 아닙니다. 플레이어가 대장장이이자 탐험가입니다. 물류는 Factorio 쪽에서, 전투 시점은 탑다운 액션 쪽에서 빌려 오지만, 둘을 복제하려는 게임은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공간이 둘입니다. 왼쪽 공장은 한 세이브에서 계속 커집니다. 런이 리셋되지 않습니다. 오른쪽 던전은 한 번 들어가면 오 분에서 십 분입니다. 짧은 호흡을 타이머로 공장을 가두지 않습니다. 들어갔다 나오는 탐사가 쉼표입니다. 탐사 중에는 공장이 멈춥니다. 플레이어는 던전에 집중합니다.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공장 쪽입니다. 채굴기, 용광로, 제작대, 마나 포집기, 벨트, 창고를 놓고 장비를 만듭니다. 처음에는 모든 기계가 수동입니다. 테크가 오르면 자동화가 열립니다. 맵은 새 게임마다 한 번 랜덤으로 깔리고, 골드로 구역을 넓힙니다. 공장은 런이 리셋되지 않습니다. 한 세이브에서 계속 키웁니다.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이제 새 컨텐츠입니다. 던전입니다. 공장은 키우는 공간이고, 던전은 그 장비를 시험하고 파밍하는 공간입니다. 둘 다 본전입니다. 한쪽으로 기울이지 않습니다. 한 번 탐사는 오 분에서 십 분입니다. 짧은 호흡을 타이머로 공장을 가두지 않고, 들어갔다 나오는 탐사가 쉼표를 맡습니다.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배틀입니다. 모험가 네 명으로 파티를 짜고, 필드에는 한 명만 나옵니다. 이동하고 좌클릭으로 때리고, 스페이스가 직업 주 스킬, 우클릭이 부적입니다. 부적에는 스킬석을 끼우고, 우클릭하면 앞에서부터 차례로 나갑니다. 큐이 이로 캐릭터를 바꿉니다. 쓰러지면 그 캐릭터만 빠지고 다른 멤버로 싸웁니다. 한 방에서 웨이브가 이어지고, 마지막 웨이브까지 잡으면 클리어입니다. 넷이 다 쓰러지면 실패고, 이번 루팅만 일부 잃습니다. 장비는 그대로입니다.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던전은 여섯 테마입니다. 메인과 서브가 테마 문을 엽니다. 테마 안 층은 일 층부터 순차입니다. 이미 열린 테마는 다시 들어가 파밍할 수 있습니다. 뒷산 동굴이 입문입니다. 혹한의 설원, 슬라임 서식지, 깊이 잠든 황금향, 좋은 대장간, 태고의 땅. 테마가 곧 타일셋과 적과 보스 세트입니다. 황금향은 용 스우마그가 주인입니다.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한 바퀴입니다. 공장에서 장비를 만들고, 그 장비를 들고 던전에 들어가고, 골드와 희귀 자원과 명예를 들고 돌아옵니다. 명예는 층을 처음 깼을 때만 줍니다. 여기까지가 이 게임의 골격입니다. 이제부터는 그 루프의 오른쪽, 새로 만들 던전 컨텐츠를 말하겠습니다.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개발로 보면 테마 하나가 세트 하나입니다. 타일 한 장, 그 방의 기믹, 적과 보스, 그 테마의 루팅 아이콘. 지형을 층마다 새로 그리지 않습니다. 같은 방을 돌리고 스폰과 목표만 바꿉니다. 입문은 뒷산이고, 그다음 테마부터가 비어 있습니다. 이 여섯 세트를 채우는 일이 지금부터의 던전 작업입니다.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정리합니다. 던전 앞에서 공장을 키우고, 그 장비를 들고 던전에 들어갑니다. 지금 새로 만드는 것은 그 던전입니다. 테마 여섯, 한 층 오 분에서 십 분. 타일 한 세트, 적 한 줄, 아이콘 한 줄. 셋 중 하나면 이 컨텐츠에 붙을 수 있습니다. 질문은 지금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C4A35A"/>
                </a:solidFill>
                <a:latin typeface="Malgun Gothic"/>
                <a:ea typeface="Malgun Gothic"/>
                <a:cs typeface="Malgun Gothic"/>
              </a:rPr>
              <a:t>01  ·  이 게임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C4A35A"/>
                </a:solidFill>
                <a:latin typeface="Malgun Gothic"/>
                <a:ea typeface="Malgun Gothic"/>
                <a:cs typeface="Malgun Gothic"/>
              </a:rPr>
              <a:t>1 / 10</a:t>
            </a:r>
          </a:p>
        </p:txBody>
      </p:sp>
      <p:pic>
        <p:nvPicPr>
          <p:cNvPr id="7" name="Picture 6" descr="stic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5852160" cy="5852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23560" y="1417320"/>
            <a:ext cx="2880360" cy="347472"/>
          </a:xfrm>
          <a:prstGeom prst="roundRect">
            <a:avLst>
              <a:gd name="adj" fmla="val 50000"/>
            </a:avLst>
          </a:prstGeom>
          <a:solidFill>
            <a:srgbClr val="A85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23560" y="1417320"/>
            <a:ext cx="28803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>
                <a:solidFill>
                  <a:srgbClr val="FFF8EA"/>
                </a:solidFill>
                <a:latin typeface="Malgun Gothic"/>
                <a:ea typeface="Malgun Gothic"/>
                <a:cs typeface="Malgun Gothic"/>
              </a:rPr>
              <a:t>공장  +  판타지  +  던전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1920240"/>
            <a:ext cx="612648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FFF8EA"/>
                </a:solidFill>
                <a:latin typeface="Malgun Gothic"/>
                <a:ea typeface="Malgun Gothic"/>
                <a:cs typeface="Malgun Gothic"/>
              </a:rPr>
              <a:t>DungeonFront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2971800"/>
            <a:ext cx="603504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C4A35A"/>
                </a:solidFill>
                <a:latin typeface="Malgun Gothic"/>
                <a:ea typeface="Malgun Gothic"/>
                <a:cs typeface="Malgun Gothic"/>
              </a:rPr>
              <a:t>최고의 대장간을 위해 성장하는
공장 경영 게임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4434840"/>
            <a:ext cx="59436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6EFD9"/>
                </a:solidFill>
                <a:latin typeface="Malgun Gothic"/>
                <a:ea typeface="Malgun Gothic"/>
                <a:cs typeface="Malgun Gothic"/>
              </a:rPr>
              <a:t>Team 던전프론트
From 2026 여름방학 스타터 프로젝트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3D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7772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C4A35A"/>
                </a:solidFill>
                <a:latin typeface="Malgun Gothic"/>
                <a:ea typeface="Malgun Gothic"/>
                <a:cs typeface="Malgun Gothic"/>
              </a:rPr>
              <a:t>01  ·  이 게임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73152"/>
            <a:ext cx="22402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200" b="0">
                <a:solidFill>
                  <a:srgbClr val="F6EFD9"/>
                </a:solidFill>
                <a:latin typeface="Malgun Gothic"/>
                <a:ea typeface="Malgun Gothic"/>
                <a:cs typeface="Malgun Gothic"/>
              </a:rPr>
              <a:t>2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601968"/>
            <a:ext cx="11365992" cy="13716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0256"/>
            <a:ext cx="7315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6A5848"/>
                </a:solidFill>
                <a:latin typeface="Malgun Gothic"/>
                <a:ea typeface="Malgun Gothic"/>
                <a:cs typeface="Malgun Gothic"/>
              </a:rPr>
              <a:t>DungeonFront  ·  게임 소개 + 새 던전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620256"/>
            <a:ext cx="3108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A5848"/>
                </a:solidFill>
                <a:latin typeface="Malgun Gothic"/>
                <a:ea typeface="Malgun Gothic"/>
                <a:cs typeface="Malgun Gothic"/>
              </a:rPr>
              <a:t>8–10분 피칭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600" b="1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공장 X 판타지의 융합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697480"/>
            <a:ext cx="4114800" cy="18288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971800"/>
            <a:ext cx="99669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공장에서 장비와 아이템을 생산하고,
모험가를 고용해 던전을 탐사한 보상으로
더 좋은 기계, 더 좋은 아이템을 만드는 게임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29200"/>
            <a:ext cx="106984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A85A2A"/>
                </a:solidFill>
                <a:latin typeface="Malgun Gothic"/>
                <a:ea typeface="Malgun Gothic"/>
                <a:cs typeface="Malgun Gothic"/>
              </a:rPr>
              <a:t>팩토리오  ×  명일방주: 엔드필드  ×  새티스팩토리  ×  Shapez  ×  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3D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7772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C4A35A"/>
                </a:solidFill>
                <a:latin typeface="Malgun Gothic"/>
                <a:ea typeface="Malgun Gothic"/>
                <a:cs typeface="Malgun Gothic"/>
              </a:rPr>
              <a:t>01  ·  이 게임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73152"/>
            <a:ext cx="22402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200" b="0">
                <a:solidFill>
                  <a:srgbClr val="F6EFD9"/>
                </a:solidFill>
                <a:latin typeface="Malgun Gothic"/>
                <a:ea typeface="Malgun Gothic"/>
                <a:cs typeface="Malgun Gothic"/>
              </a:rPr>
              <a:t>3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601968"/>
            <a:ext cx="11365992" cy="13716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0256"/>
            <a:ext cx="7315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6A5848"/>
                </a:solidFill>
                <a:latin typeface="Malgun Gothic"/>
                <a:ea typeface="Malgun Gothic"/>
                <a:cs typeface="Malgun Gothic"/>
              </a:rPr>
              <a:t>DungeonFront  ·  게임 소개 + 새 던전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620256"/>
            <a:ext cx="3108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A5848"/>
                </a:solidFill>
                <a:latin typeface="Malgun Gothic"/>
                <a:ea typeface="Malgun Gothic"/>
                <a:cs typeface="Malgun Gothic"/>
              </a:rPr>
              <a:t>8–10분 피칭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게임의 흐름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5486400" cy="5074920"/>
          </a:xfrm>
          <a:prstGeom prst="roundRect">
            <a:avLst>
              <a:gd name="adj" fmla="val 6000"/>
            </a:avLst>
          </a:prstGeom>
          <a:solidFill>
            <a:srgbClr val="FFF8EA"/>
          </a:solidFill>
          <a:ln w="14604">
            <a:solidFill>
              <a:srgbClr val="C4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actory_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120640" cy="38404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534924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4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349240"/>
            <a:ext cx="123444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8EA"/>
                </a:solidFill>
                <a:latin typeface="Malgun Gothic"/>
                <a:ea typeface="Malgun Gothic"/>
                <a:cs typeface="Malgun Gothic"/>
              </a:rPr>
              <a:t>공장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5321808"/>
            <a:ext cx="3657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주인공 캐릭터의 무대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715000"/>
            <a:ext cx="5029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A5848"/>
                </a:solidFill>
                <a:latin typeface="Malgun Gothic"/>
                <a:ea typeface="Malgun Gothic"/>
                <a:cs typeface="Malgun Gothic"/>
              </a:rPr>
              <a:t>기계 · 벨트 · 구역을 넓히며 성장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234440"/>
            <a:ext cx="5486400" cy="5074920"/>
          </a:xfrm>
          <a:prstGeom prst="roundRect">
            <a:avLst>
              <a:gd name="adj" fmla="val 6000"/>
            </a:avLst>
          </a:prstGeom>
          <a:solidFill>
            <a:srgbClr val="FFF8EA"/>
          </a:solidFill>
          <a:ln w="14604">
            <a:solidFill>
              <a:srgbClr val="C4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ungeon_c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5120640" cy="384048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446520" y="534924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6B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5349240"/>
            <a:ext cx="123444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8EA"/>
                </a:solidFill>
                <a:latin typeface="Malgun Gothic"/>
                <a:ea typeface="Malgun Gothic"/>
                <a:cs typeface="Malgun Gothic"/>
              </a:rPr>
              <a:t>던전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5321808"/>
            <a:ext cx="3657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모험가 캐릭터의 무대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715000"/>
            <a:ext cx="5029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A5848"/>
                </a:solidFill>
                <a:latin typeface="Malgun Gothic"/>
                <a:ea typeface="Malgun Gothic"/>
                <a:cs typeface="Malgun Gothic"/>
              </a:rPr>
              <a:t>좋은 장비를 만들어 더 어려운 던전을 탐사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3D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7772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C4A35A"/>
                </a:solidFill>
                <a:latin typeface="Malgun Gothic"/>
                <a:ea typeface="Malgun Gothic"/>
                <a:cs typeface="Malgun Gothic"/>
              </a:rPr>
              <a:t>01  ·  이 게임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73152"/>
            <a:ext cx="22402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200" b="0">
                <a:solidFill>
                  <a:srgbClr val="F6EFD9"/>
                </a:solidFill>
                <a:latin typeface="Malgun Gothic"/>
                <a:ea typeface="Malgun Gothic"/>
                <a:cs typeface="Malgun Gothic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601968"/>
            <a:ext cx="11365992" cy="13716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0256"/>
            <a:ext cx="7315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6A5848"/>
                </a:solidFill>
                <a:latin typeface="Malgun Gothic"/>
                <a:ea typeface="Malgun Gothic"/>
                <a:cs typeface="Malgun Gothic"/>
              </a:rPr>
              <a:t>DungeonFront  ·  게임 소개 + 새 던전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620256"/>
            <a:ext cx="3108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A5848"/>
                </a:solidFill>
                <a:latin typeface="Malgun Gothic"/>
                <a:ea typeface="Malgun Gothic"/>
                <a:cs typeface="Malgun Gothic"/>
              </a:rPr>
              <a:t>8–10분 피칭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현재 개발된 공장 컨텐츠</a:t>
            </a:r>
          </a:p>
        </p:txBody>
      </p:sp>
      <p:pic>
        <p:nvPicPr>
          <p:cNvPr id="10" name="Picture 9" descr="machines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6084251" cy="51206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726679" y="1207008"/>
            <a:ext cx="4069080" cy="1600200"/>
          </a:xfrm>
          <a:prstGeom prst="roundRect">
            <a:avLst>
              <a:gd name="adj" fmla="val 6000"/>
            </a:avLst>
          </a:prstGeom>
          <a:solidFill>
            <a:srgbClr val="FFF8EA"/>
          </a:solidFill>
          <a:ln w="14604">
            <a:solidFill>
              <a:srgbClr val="C4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316736"/>
            <a:ext cx="374903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기계 업그레이드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1709928"/>
            <a:ext cx="3749039" cy="9875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A5848"/>
                </a:solidFill>
                <a:latin typeface="Malgun Gothic"/>
                <a:ea typeface="Malgun Gothic"/>
                <a:cs typeface="Malgun Gothic"/>
              </a:rPr>
              <a:t>초반은 수동으로 옮기고 속도도 느리지만, 발전할수록 더욱 더 빨라지고 자동화할 수 있게 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2926080"/>
            <a:ext cx="4069080" cy="1600200"/>
          </a:xfrm>
          <a:prstGeom prst="roundRect">
            <a:avLst>
              <a:gd name="adj" fmla="val 6000"/>
            </a:avLst>
          </a:prstGeom>
          <a:solidFill>
            <a:srgbClr val="FFF8EA"/>
          </a:solidFill>
          <a:ln w="14604">
            <a:solidFill>
              <a:srgbClr val="C4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3035808"/>
            <a:ext cx="374903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장비 업그레이드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3429000"/>
            <a:ext cx="3749039" cy="9875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A5848"/>
                </a:solidFill>
                <a:latin typeface="Malgun Gothic"/>
                <a:ea typeface="Malgun Gothic"/>
                <a:cs typeface="Malgun Gothic"/>
              </a:rPr>
              <a:t>더 높은 테크의 기계는 새로운 장비를 제작할 수 있게 된다. 이전보다 훨씬 더 많은 자원이 필요해 공장을 지속적으로 확장해야 한다.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4645152"/>
            <a:ext cx="4069080" cy="1600200"/>
          </a:xfrm>
          <a:prstGeom prst="roundRect">
            <a:avLst>
              <a:gd name="adj" fmla="val 6000"/>
            </a:avLst>
          </a:prstGeom>
          <a:solidFill>
            <a:srgbClr val="FFF8EA"/>
          </a:solidFill>
          <a:ln w="14604">
            <a:solidFill>
              <a:srgbClr val="C4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4754880"/>
            <a:ext cx="374903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영역 확장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5148072"/>
            <a:ext cx="3749039" cy="9875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A5848"/>
                </a:solidFill>
                <a:latin typeface="Malgun Gothic"/>
                <a:ea typeface="Malgun Gothic"/>
                <a:cs typeface="Malgun Gothic"/>
              </a:rPr>
              <a:t>던전 보상으로 획득한 골드로 맵을 확장할 수 있다. 맵은 랜덤 생성이고 위치에 따라 자원 분포가 다르다.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3D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7772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C4A35A"/>
                </a:solidFill>
                <a:latin typeface="Malgun Gothic"/>
                <a:ea typeface="Malgun Gothic"/>
                <a:cs typeface="Malgun Gothic"/>
              </a:rPr>
              <a:t>02  ·  새 던전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73152"/>
            <a:ext cx="22402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200" b="0">
                <a:solidFill>
                  <a:srgbClr val="F6EFD9"/>
                </a:solidFill>
                <a:latin typeface="Malgun Gothic"/>
                <a:ea typeface="Malgun Gothic"/>
                <a:cs typeface="Malgun Gothic"/>
              </a:rPr>
              <a:t>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601968"/>
            <a:ext cx="11365992" cy="13716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0256"/>
            <a:ext cx="7315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6A5848"/>
                </a:solidFill>
                <a:latin typeface="Malgun Gothic"/>
                <a:ea typeface="Malgun Gothic"/>
                <a:cs typeface="Malgun Gothic"/>
              </a:rPr>
              <a:t>DungeonFront  ·  게임 소개 + 새 던전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620256"/>
            <a:ext cx="3108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A5848"/>
                </a:solidFill>
                <a:latin typeface="Malgun Gothic"/>
                <a:ea typeface="Malgun Gothic"/>
                <a:cs typeface="Malgun Gothic"/>
              </a:rPr>
              <a:t>8–10분 피칭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이번 학기의 개발 목적: 던전 컨텐츠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07008"/>
            <a:ext cx="11201400" cy="1572768"/>
          </a:xfrm>
          <a:prstGeom prst="roundRect">
            <a:avLst>
              <a:gd name="adj" fmla="val 6000"/>
            </a:avLst>
          </a:prstGeom>
          <a:solidFill>
            <a:srgbClr val="FFF8EA"/>
          </a:solidFill>
          <a:ln w="14604">
            <a:solidFill>
              <a:srgbClr val="C4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07008"/>
            <a:ext cx="128016" cy="1572768"/>
          </a:xfrm>
          <a:prstGeom prst="rect">
            <a:avLst/>
          </a:prstGeom>
          <a:solidFill>
            <a:srgbClr val="6B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335024"/>
            <a:ext cx="10424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737360"/>
            <a:ext cx="10424160" cy="8961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A5848"/>
                </a:solidFill>
                <a:latin typeface="Malgun Gothic"/>
                <a:ea typeface="Malgun Gothic"/>
                <a:cs typeface="Malgun Gothic"/>
              </a:rPr>
              <a:t>플레이어의 공장 설계의 목적이 되는 컨텐츠. 기존에는 5분 간격으로 플레이를 강제로 중단하는 방식을 썼으나, 그 역할을 던전이 대체한다. 더 자연스럽고 불편함을 줄인 개선안.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26080"/>
            <a:ext cx="11201400" cy="1572768"/>
          </a:xfrm>
          <a:prstGeom prst="roundRect">
            <a:avLst>
              <a:gd name="adj" fmla="val 6000"/>
            </a:avLst>
          </a:prstGeom>
          <a:solidFill>
            <a:srgbClr val="FFF8EA"/>
          </a:solidFill>
          <a:ln w="14604">
            <a:solidFill>
              <a:srgbClr val="C4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926080"/>
            <a:ext cx="128016" cy="1572768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054096"/>
            <a:ext cx="10424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방식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56432"/>
            <a:ext cx="10424160" cy="8961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A5848"/>
                </a:solidFill>
                <a:latin typeface="Malgun Gothic"/>
                <a:ea typeface="Malgun Gothic"/>
                <a:cs typeface="Malgun Gothic"/>
              </a:rPr>
              <a:t>고용한 모험가 중 4명으로 파티를 짜서 던전에 들어간다. 몬스터 웨이브를 처치하고, 최종 웨이브까지 처치하면 던전 클리어.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645152"/>
            <a:ext cx="11201400" cy="1572768"/>
          </a:xfrm>
          <a:prstGeom prst="roundRect">
            <a:avLst>
              <a:gd name="adj" fmla="val 6000"/>
            </a:avLst>
          </a:prstGeom>
          <a:solidFill>
            <a:srgbClr val="FFF8EA"/>
          </a:solidFill>
          <a:ln w="14604">
            <a:solidFill>
              <a:srgbClr val="C4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645152"/>
            <a:ext cx="128016" cy="1572768"/>
          </a:xfrm>
          <a:prstGeom prst="rect">
            <a:avLst/>
          </a:prstGeom>
          <a:solidFill>
            <a:srgbClr val="4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773168"/>
            <a:ext cx="10424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보상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75504"/>
            <a:ext cx="10424160" cy="8961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A5848"/>
                </a:solidFill>
                <a:latin typeface="Malgun Gothic"/>
                <a:ea typeface="Malgun Gothic"/>
                <a:cs typeface="Malgun Gothic"/>
              </a:rPr>
              <a:t>골드, 기계·아이템 제작 재료가 되는 희귀 자원, 명성. 명성은 스테이지를 클리어하면 딱 1번 영구히 올라가고, 게임 진행도를 대략적으로 표시한다.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3D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7772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C4A35A"/>
                </a:solidFill>
                <a:latin typeface="Malgun Gothic"/>
                <a:ea typeface="Malgun Gothic"/>
                <a:cs typeface="Malgun Gothic"/>
              </a:rPr>
              <a:t>02  ·  새 던전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73152"/>
            <a:ext cx="22402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200" b="0">
                <a:solidFill>
                  <a:srgbClr val="F6EFD9"/>
                </a:solidFill>
                <a:latin typeface="Malgun Gothic"/>
                <a:ea typeface="Malgun Gothic"/>
                <a:cs typeface="Malgun Gothic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601968"/>
            <a:ext cx="11365992" cy="13716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0256"/>
            <a:ext cx="7315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6A5848"/>
                </a:solidFill>
                <a:latin typeface="Malgun Gothic"/>
                <a:ea typeface="Malgun Gothic"/>
                <a:cs typeface="Malgun Gothic"/>
              </a:rPr>
              <a:t>DungeonFront  ·  게임 소개 + 새 던전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620256"/>
            <a:ext cx="3108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A5848"/>
                </a:solidFill>
                <a:latin typeface="Malgun Gothic"/>
                <a:ea typeface="Malgun Gothic"/>
                <a:cs typeface="Malgun Gothic"/>
              </a:rPr>
              <a:t>8–10분 피칭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전투 시스템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70432"/>
            <a:ext cx="5623560" cy="2029968"/>
          </a:xfrm>
          <a:prstGeom prst="roundRect">
            <a:avLst>
              <a:gd name="adj" fmla="val 6000"/>
            </a:avLst>
          </a:prstGeom>
          <a:solidFill>
            <a:srgbClr val="FFF8EA"/>
          </a:solidFill>
          <a:ln w="14604">
            <a:solidFill>
              <a:srgbClr val="4F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170432"/>
            <a:ext cx="109728" cy="2029968"/>
          </a:xfrm>
          <a:prstGeom prst="rect">
            <a:avLst/>
          </a:prstGeom>
          <a:solidFill>
            <a:srgbClr val="4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335024"/>
            <a:ext cx="5074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4인 편성 / 메인 캐릭터 1명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810512"/>
            <a:ext cx="50749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A5848"/>
                </a:solidFill>
                <a:latin typeface="Malgun Gothic"/>
                <a:ea typeface="Malgun Gothic"/>
                <a:cs typeface="Malgun Gothic"/>
              </a:rPr>
              <a:t>고용한 모험가 중 4명을 편성. 그 중 메인 캐릭터 1명을 정해서 그 캐릭터만 필드에서 싸움. 나머지 셋은 서브 캐릭터.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170432"/>
            <a:ext cx="5623560" cy="2029968"/>
          </a:xfrm>
          <a:prstGeom prst="roundRect">
            <a:avLst>
              <a:gd name="adj" fmla="val 6000"/>
            </a:avLst>
          </a:prstGeom>
          <a:solidFill>
            <a:srgbClr val="FFF8EA"/>
          </a:solidFill>
          <a:ln w="14604">
            <a:solidFill>
              <a:srgbClr val="A85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170432"/>
            <a:ext cx="109728" cy="2029968"/>
          </a:xfrm>
          <a:prstGeom prst="rect">
            <a:avLst/>
          </a:prstGeom>
          <a:solidFill>
            <a:srgbClr val="A85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335024"/>
            <a:ext cx="5074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조작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1810512"/>
            <a:ext cx="50749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A5848"/>
                </a:solidFill>
                <a:latin typeface="Malgun Gothic"/>
                <a:ea typeface="Malgun Gothic"/>
                <a:cs typeface="Malgun Gothic"/>
              </a:rPr>
              <a:t>우클릭 이동, 좌클릭 기본공격,
qwer/asdf : 서브 스킬, 스페이스바: 메인스킬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364991"/>
            <a:ext cx="5623560" cy="2029968"/>
          </a:xfrm>
          <a:prstGeom prst="roundRect">
            <a:avLst>
              <a:gd name="adj" fmla="val 6000"/>
            </a:avLst>
          </a:prstGeom>
          <a:solidFill>
            <a:srgbClr val="FFF8EA"/>
          </a:solidFill>
          <a:ln w="14604">
            <a:solidFill>
              <a:srgbClr val="6B4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364991"/>
            <a:ext cx="109728" cy="2029968"/>
          </a:xfrm>
          <a:prstGeom prst="rect">
            <a:avLst/>
          </a:prstGeom>
          <a:solidFill>
            <a:srgbClr val="6B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529584"/>
            <a:ext cx="5074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스킬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005072"/>
            <a:ext cx="50749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A5848"/>
                </a:solidFill>
                <a:latin typeface="Malgun Gothic"/>
                <a:ea typeface="Malgun Gothic"/>
                <a:cs typeface="Malgun Gothic"/>
              </a:rPr>
              <a:t>캐릭터는 직업을 선택할 수 있고, 직업에 따라 서브 스킬과 메인 스킬 여러 개를 가짐.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364991"/>
            <a:ext cx="5623560" cy="2029968"/>
          </a:xfrm>
          <a:prstGeom prst="roundRect">
            <a:avLst>
              <a:gd name="adj" fmla="val 6000"/>
            </a:avLst>
          </a:prstGeom>
          <a:solidFill>
            <a:srgbClr val="FFF8EA"/>
          </a:solidFill>
          <a:ln w="14604">
            <a:solidFill>
              <a:srgbClr val="C4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364991"/>
            <a:ext cx="109728" cy="2029968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3529584"/>
            <a:ext cx="5074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스킬 편성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005072"/>
            <a:ext cx="50749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A5848"/>
                </a:solidFill>
                <a:latin typeface="Malgun Gothic"/>
                <a:ea typeface="Malgun Gothic"/>
                <a:cs typeface="Malgun Gothic"/>
              </a:rPr>
              <a:t>메인 캐릭터의 [부적] 아이템의 스킬 슬롯에 메인 캐릭터와 서브 캐릭터들의 서브 스킬을 선택해서 장착 가능.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623560"/>
            <a:ext cx="11292840" cy="777240"/>
          </a:xfrm>
          <a:prstGeom prst="roundRect">
            <a:avLst>
              <a:gd name="adj" fmla="val 6000"/>
            </a:avLst>
          </a:prstGeom>
          <a:solidFill>
            <a:srgbClr val="FFF8EA"/>
          </a:solidFill>
          <a:ln w="14604">
            <a:solidFill>
              <a:srgbClr val="C4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669280"/>
            <a:ext cx="1097280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메인 캐릭터의 hp가 0이 되면 공략 실패. 이번 보상을 일부만 가져갈 수 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3D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7772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C4A35A"/>
                </a:solidFill>
                <a:latin typeface="Malgun Gothic"/>
                <a:ea typeface="Malgun Gothic"/>
                <a:cs typeface="Malgun Gothic"/>
              </a:rPr>
              <a:t>02  ·  새 던전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73152"/>
            <a:ext cx="22402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200" b="0">
                <a:solidFill>
                  <a:srgbClr val="F6EFD9"/>
                </a:solidFill>
                <a:latin typeface="Malgun Gothic"/>
                <a:ea typeface="Malgun Gothic"/>
                <a:cs typeface="Malgun Gothic"/>
              </a:rPr>
              <a:t>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601968"/>
            <a:ext cx="11365992" cy="13716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0256"/>
            <a:ext cx="7315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6A5848"/>
                </a:solidFill>
                <a:latin typeface="Malgun Gothic"/>
                <a:ea typeface="Malgun Gothic"/>
                <a:cs typeface="Malgun Gothic"/>
              </a:rPr>
              <a:t>DungeonFront  ·  게임 소개 + 새 던전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620256"/>
            <a:ext cx="3108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A5848"/>
                </a:solidFill>
                <a:latin typeface="Malgun Gothic"/>
                <a:ea typeface="Malgun Gothic"/>
                <a:cs typeface="Malgun Gothic"/>
              </a:rPr>
              <a:t>8–10분 피칭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다양한 테마 던전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78992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A5848"/>
                </a:solidFill>
                <a:latin typeface="Malgun Gothic"/>
                <a:ea typeface="Malgun Gothic"/>
                <a:cs typeface="Malgun Gothic"/>
              </a:rPr>
              <a:t>던전은 각 테마별로 여러 층으로 구성. 스토리 진행에 따라 차례차례 열리는 구조.
던전이 개방됨에 따라 해당 테마의 기계 제작도 열림.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783080"/>
            <a:ext cx="3657600" cy="2057400"/>
          </a:xfrm>
          <a:prstGeom prst="roundRect">
            <a:avLst>
              <a:gd name="adj" fmla="val 6000"/>
            </a:avLst>
          </a:prstGeom>
          <a:solidFill>
            <a:srgbClr val="FFF8EA"/>
          </a:solidFill>
          <a:ln w="14604">
            <a:solidFill>
              <a:srgbClr val="4F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109728" cy="2057400"/>
          </a:xfrm>
          <a:prstGeom prst="rect">
            <a:avLst/>
          </a:prstGeom>
          <a:solidFill>
            <a:srgbClr val="4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_st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57400"/>
            <a:ext cx="1508760" cy="1508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194560" y="2286000"/>
            <a:ext cx="1783080" cy="10515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뒷산 동굴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783080"/>
            <a:ext cx="3657600" cy="2057400"/>
          </a:xfrm>
          <a:prstGeom prst="roundRect">
            <a:avLst>
              <a:gd name="adj" fmla="val 6000"/>
            </a:avLst>
          </a:prstGeom>
          <a:solidFill>
            <a:srgbClr val="FFF8EA"/>
          </a:solidFill>
          <a:ln w="14604">
            <a:solidFill>
              <a:srgbClr val="4A7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783080"/>
            <a:ext cx="109728" cy="2057400"/>
          </a:xfrm>
          <a:prstGeom prst="rect">
            <a:avLst/>
          </a:prstGeom>
          <a:solidFill>
            <a:srgbClr val="4A7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_ma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057400"/>
            <a:ext cx="1508760" cy="15087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40" y="2286000"/>
            <a:ext cx="1783080" cy="10515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혹한의 설원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783080"/>
            <a:ext cx="3657600" cy="2057400"/>
          </a:xfrm>
          <a:prstGeom prst="roundRect">
            <a:avLst>
              <a:gd name="adj" fmla="val 6000"/>
            </a:avLst>
          </a:prstGeom>
          <a:solidFill>
            <a:srgbClr val="FFF8EA"/>
          </a:solidFill>
          <a:ln w="14604">
            <a:solidFill>
              <a:srgbClr val="5A8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783080"/>
            <a:ext cx="109728" cy="2057400"/>
          </a:xfrm>
          <a:prstGeom prst="rect">
            <a:avLst/>
          </a:prstGeom>
          <a:solidFill>
            <a:srgbClr val="5A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o_scro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2057400"/>
            <a:ext cx="1508760" cy="15087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75520" y="2286000"/>
            <a:ext cx="1783080" cy="10515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슬라임 서식지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023360"/>
            <a:ext cx="3657600" cy="2057400"/>
          </a:xfrm>
          <a:prstGeom prst="roundRect">
            <a:avLst>
              <a:gd name="adj" fmla="val 6000"/>
            </a:avLst>
          </a:prstGeom>
          <a:solidFill>
            <a:srgbClr val="FFF8EA"/>
          </a:solidFill>
          <a:ln w="14604">
            <a:solidFill>
              <a:srgbClr val="C4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023360"/>
            <a:ext cx="109728" cy="20574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_furnace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297680"/>
            <a:ext cx="1508760" cy="15087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94560" y="4526280"/>
            <a:ext cx="1783080" cy="10515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깊이 잠든 황금향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4023360"/>
            <a:ext cx="3657600" cy="2057400"/>
          </a:xfrm>
          <a:prstGeom prst="roundRect">
            <a:avLst>
              <a:gd name="adj" fmla="val 6000"/>
            </a:avLst>
          </a:prstGeom>
          <a:solidFill>
            <a:srgbClr val="FFF8EA"/>
          </a:solidFill>
          <a:ln w="14604">
            <a:solidFill>
              <a:srgbClr val="A85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4023360"/>
            <a:ext cx="109728" cy="2057400"/>
          </a:xfrm>
          <a:prstGeom prst="rect">
            <a:avLst/>
          </a:prstGeom>
          <a:solidFill>
            <a:srgbClr val="A85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_ch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4297680"/>
            <a:ext cx="1508760" cy="15087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035040" y="4526280"/>
            <a:ext cx="1783080" cy="10515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좋은 대장간?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023360"/>
            <a:ext cx="3657600" cy="2057400"/>
          </a:xfrm>
          <a:prstGeom prst="roundRect">
            <a:avLst>
              <a:gd name="adj" fmla="val 6000"/>
            </a:avLst>
          </a:prstGeom>
          <a:solidFill>
            <a:srgbClr val="FFF8EA"/>
          </a:solidFill>
          <a:ln w="14604">
            <a:solidFill>
              <a:srgbClr val="6B4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0" y="4023360"/>
            <a:ext cx="109728" cy="2057400"/>
          </a:xfrm>
          <a:prstGeom prst="rect">
            <a:avLst/>
          </a:prstGeom>
          <a:solidFill>
            <a:srgbClr val="6B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co_essen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0" y="4297680"/>
            <a:ext cx="1508760" cy="150876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875520" y="4526280"/>
            <a:ext cx="1783080" cy="10515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태고의 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3D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7772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C4A35A"/>
                </a:solidFill>
                <a:latin typeface="Malgun Gothic"/>
                <a:ea typeface="Malgun Gothic"/>
                <a:cs typeface="Malgun Gothic"/>
              </a:rPr>
              <a:t>01  ·  이 게임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73152"/>
            <a:ext cx="22402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200" b="0">
                <a:solidFill>
                  <a:srgbClr val="F6EFD9"/>
                </a:solidFill>
                <a:latin typeface="Malgun Gothic"/>
                <a:ea typeface="Malgun Gothic"/>
                <a:cs typeface="Malgun Gothic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601968"/>
            <a:ext cx="11365992" cy="13716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0256"/>
            <a:ext cx="7315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6A5848"/>
                </a:solidFill>
                <a:latin typeface="Malgun Gothic"/>
                <a:ea typeface="Malgun Gothic"/>
                <a:cs typeface="Malgun Gothic"/>
              </a:rPr>
              <a:t>DungeonFront  ·  게임 소개 + 새 던전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620256"/>
            <a:ext cx="3108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A5848"/>
                </a:solidFill>
                <a:latin typeface="Malgun Gothic"/>
                <a:ea typeface="Malgun Gothic"/>
                <a:cs typeface="Malgun Gothic"/>
              </a:rPr>
              <a:t>8–10분 피칭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현재까지 개발된 컨텐츠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80160"/>
            <a:ext cx="2697480" cy="1965960"/>
          </a:xfrm>
          <a:prstGeom prst="roundRect">
            <a:avLst>
              <a:gd name="adj" fmla="val 6000"/>
            </a:avLst>
          </a:prstGeom>
          <a:solidFill>
            <a:srgbClr val="FFF8EA"/>
          </a:solidFill>
          <a:ln w="14604">
            <a:solidFill>
              <a:srgbClr val="4F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80160"/>
            <a:ext cx="2697480" cy="109728"/>
          </a:xfrm>
          <a:prstGeom prst="rect">
            <a:avLst/>
          </a:prstGeom>
          <a:solidFill>
            <a:srgbClr val="4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508760"/>
            <a:ext cx="2423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4F7A4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78308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공장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286000"/>
            <a:ext cx="24231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A5848"/>
                </a:solidFill>
                <a:latin typeface="Malgun Gothic"/>
                <a:ea typeface="Malgun Gothic"/>
                <a:cs typeface="Malgun Gothic"/>
              </a:rPr>
              <a:t>기계 · 라인 · 구역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874519"/>
            <a:ext cx="5029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1">
                <a:solidFill>
                  <a:srgbClr val="C4A35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1280160"/>
            <a:ext cx="2697480" cy="1965960"/>
          </a:xfrm>
          <a:prstGeom prst="roundRect">
            <a:avLst>
              <a:gd name="adj" fmla="val 6000"/>
            </a:avLst>
          </a:prstGeom>
          <a:solidFill>
            <a:srgbClr val="FFF8EA"/>
          </a:solidFill>
          <a:ln w="14604">
            <a:solidFill>
              <a:srgbClr val="A85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1280160"/>
            <a:ext cx="2697480" cy="109728"/>
          </a:xfrm>
          <a:prstGeom prst="rect">
            <a:avLst/>
          </a:prstGeom>
          <a:solidFill>
            <a:srgbClr val="A85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1508760"/>
            <a:ext cx="2423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85A2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78308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아이템 제작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286000"/>
            <a:ext cx="24231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A5848"/>
                </a:solidFill>
                <a:latin typeface="Malgun Gothic"/>
                <a:ea typeface="Malgun Gothic"/>
                <a:cs typeface="Malgun Gothic"/>
              </a:rPr>
              <a:t>투구 · 흉갑 · 무기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1874519"/>
            <a:ext cx="5029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1">
                <a:solidFill>
                  <a:srgbClr val="C4A35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280160"/>
            <a:ext cx="2697480" cy="1965960"/>
          </a:xfrm>
          <a:prstGeom prst="roundRect">
            <a:avLst>
              <a:gd name="adj" fmla="val 6000"/>
            </a:avLst>
          </a:prstGeom>
          <a:solidFill>
            <a:srgbClr val="FFF8EA"/>
          </a:solidFill>
          <a:ln w="14604">
            <a:solidFill>
              <a:srgbClr val="6B4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1280160"/>
            <a:ext cx="2697480" cy="109728"/>
          </a:xfrm>
          <a:prstGeom prst="rect">
            <a:avLst/>
          </a:prstGeom>
          <a:solidFill>
            <a:srgbClr val="6B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508760"/>
            <a:ext cx="2423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6B4A8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178308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의뢰 납품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286000"/>
            <a:ext cx="24231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A5848"/>
                </a:solidFill>
                <a:latin typeface="Malgun Gothic"/>
                <a:ea typeface="Malgun Gothic"/>
                <a:cs typeface="Malgun Gothic"/>
              </a:rPr>
              <a:t>모험가에게 넘긴다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1874519"/>
            <a:ext cx="5029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1">
                <a:solidFill>
                  <a:srgbClr val="C4A35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35440" y="1280160"/>
            <a:ext cx="2697480" cy="1965960"/>
          </a:xfrm>
          <a:prstGeom prst="roundRect">
            <a:avLst>
              <a:gd name="adj" fmla="val 6000"/>
            </a:avLst>
          </a:prstGeom>
          <a:solidFill>
            <a:srgbClr val="FFF8EA"/>
          </a:solidFill>
          <a:ln w="14604">
            <a:solidFill>
              <a:srgbClr val="C4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35440" y="1280160"/>
            <a:ext cx="2697480" cy="109728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600" y="1508760"/>
            <a:ext cx="2423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A35A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178308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보상 획득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2286000"/>
            <a:ext cx="24231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A5848"/>
                </a:solidFill>
                <a:latin typeface="Malgun Gothic"/>
                <a:ea typeface="Malgun Gothic"/>
                <a:cs typeface="Malgun Gothic"/>
              </a:rPr>
              <a:t>골드 · 명성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474720"/>
            <a:ext cx="11292840" cy="2788920"/>
          </a:xfrm>
          <a:prstGeom prst="roundRect">
            <a:avLst>
              <a:gd name="adj" fmla="val 6000"/>
            </a:avLst>
          </a:prstGeom>
          <a:solidFill>
            <a:srgbClr val="FFF8EA"/>
          </a:solidFill>
          <a:ln w="14604">
            <a:solidFill>
              <a:srgbClr val="C4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tem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11880"/>
            <a:ext cx="3890086" cy="25146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903720" y="3657600"/>
            <a:ext cx="4572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85A2A"/>
                </a:solidFill>
                <a:latin typeface="Malgun Gothic"/>
                <a:ea typeface="Malgun Gothic"/>
                <a:cs typeface="Malgun Gothic"/>
              </a:rPr>
              <a:t>하루 시스템 (삭제 예정)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114800"/>
            <a:ext cx="4572000" cy="18745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준비 / 생산 / 결산으로 끊어서 5분 템포를 만들었으나, 공장 게임에 맞지 않다고 판단했다. 이 시스템을 폐기하고 던전 탐사 컨텐츠를 새로 개발한다.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3D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7772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C4A35A"/>
                </a:solidFill>
                <a:latin typeface="Malgun Gothic"/>
                <a:ea typeface="Malgun Gothic"/>
                <a:cs typeface="Malgun Gothic"/>
              </a:rPr>
              <a:t>02  ·  새 던전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73152"/>
            <a:ext cx="22402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200" b="0">
                <a:solidFill>
                  <a:srgbClr val="F6EFD9"/>
                </a:solidFill>
                <a:latin typeface="Malgun Gothic"/>
                <a:ea typeface="Malgun Gothic"/>
                <a:cs typeface="Malgun Gothic"/>
              </a:rPr>
              <a:t>9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601968"/>
            <a:ext cx="11365992" cy="13716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0256"/>
            <a:ext cx="7315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6A5848"/>
                </a:solidFill>
                <a:latin typeface="Malgun Gothic"/>
                <a:ea typeface="Malgun Gothic"/>
                <a:cs typeface="Malgun Gothic"/>
              </a:rPr>
              <a:t>DungeonFront  ·  게임 소개 + 새 던전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620256"/>
            <a:ext cx="3108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A5848"/>
                </a:solidFill>
                <a:latin typeface="Malgun Gothic"/>
                <a:ea typeface="Malgun Gothic"/>
                <a:cs typeface="Malgun Gothic"/>
              </a:rPr>
              <a:t>8–10분 피칭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앞으로 할 일들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70432"/>
            <a:ext cx="5669280" cy="2468880"/>
          </a:xfrm>
          <a:prstGeom prst="roundRect">
            <a:avLst>
              <a:gd name="adj" fmla="val 6000"/>
            </a:avLst>
          </a:prstGeom>
          <a:solidFill>
            <a:srgbClr val="FFF8EA"/>
          </a:solidFill>
          <a:ln w="14604">
            <a:solidFill>
              <a:srgbClr val="C4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ree_t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810512"/>
            <a:ext cx="2286000" cy="8705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17520" y="1490472"/>
            <a:ext cx="2880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각 던전별 타일 디자인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221991"/>
            <a:ext cx="288036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A5848"/>
                </a:solidFill>
                <a:latin typeface="Malgun Gothic"/>
                <a:ea typeface="Malgun Gothic"/>
                <a:cs typeface="Malgun Gothic"/>
              </a:rPr>
              <a:t>테마당 맵들을 구성할 수 있는 타일들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170432"/>
            <a:ext cx="5669280" cy="2468880"/>
          </a:xfrm>
          <a:prstGeom prst="roundRect">
            <a:avLst>
              <a:gd name="adj" fmla="val 6000"/>
            </a:avLst>
          </a:prstGeom>
          <a:solidFill>
            <a:srgbClr val="FFF8EA"/>
          </a:solidFill>
          <a:ln w="14604">
            <a:solidFill>
              <a:srgbClr val="C4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al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810512"/>
            <a:ext cx="2286000" cy="5537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915400" y="1490472"/>
            <a:ext cx="2880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적 · 보스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221991"/>
            <a:ext cx="288036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A5848"/>
                </a:solidFill>
                <a:latin typeface="Malgun Gothic"/>
                <a:ea typeface="Malgun Gothic"/>
                <a:cs typeface="Malgun Gothic"/>
              </a:rPr>
              <a:t>웨이브 잡몹 + 던전의 보스들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822191"/>
            <a:ext cx="5669280" cy="2468880"/>
          </a:xfrm>
          <a:prstGeom prst="roundRect">
            <a:avLst>
              <a:gd name="adj" fmla="val 6000"/>
            </a:avLst>
          </a:prstGeom>
          <a:solidFill>
            <a:srgbClr val="FFF8EA"/>
          </a:solidFill>
          <a:ln w="14604">
            <a:solidFill>
              <a:srgbClr val="C4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ortraits_ca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4462272"/>
            <a:ext cx="2286000" cy="81642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017520" y="4142231"/>
            <a:ext cx="2880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캐릭터 비주얼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873752"/>
            <a:ext cx="288036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A5848"/>
                </a:solidFill>
                <a:latin typeface="Malgun Gothic"/>
                <a:ea typeface="Malgun Gothic"/>
                <a:cs typeface="Malgun Gothic"/>
              </a:rPr>
              <a:t>여러 캐릭터들의 초상화와 스탠딩 일러스트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822191"/>
            <a:ext cx="5669280" cy="2468880"/>
          </a:xfrm>
          <a:prstGeom prst="roundRect">
            <a:avLst>
              <a:gd name="adj" fmla="val 6000"/>
            </a:avLst>
          </a:prstGeom>
          <a:solidFill>
            <a:srgbClr val="FFF8EA"/>
          </a:solidFill>
          <a:ln w="14604">
            <a:solidFill>
              <a:srgbClr val="C4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machines_she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4462272"/>
            <a:ext cx="2286000" cy="192394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915400" y="4142231"/>
            <a:ext cx="2880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B2118"/>
                </a:solidFill>
                <a:latin typeface="Malgun Gothic"/>
                <a:ea typeface="Malgun Gothic"/>
                <a:cs typeface="Malgun Gothic"/>
              </a:rPr>
              <a:t>공장 기계 디자인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4873752"/>
            <a:ext cx="288036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A5848"/>
                </a:solidFill>
                <a:latin typeface="Malgun Gothic"/>
                <a:ea typeface="Malgun Gothic"/>
                <a:cs typeface="Malgun Gothic"/>
              </a:rPr>
              <a:t>다양한 기계들의 모션 작업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C4A35A"/>
                </a:solidFill>
                <a:latin typeface="Malgun Gothic"/>
                <a:ea typeface="Malgun Gothic"/>
                <a:cs typeface="Malgun Gothic"/>
              </a:rPr>
              <a:t>02  ·  새 던전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C4A35A"/>
                </a:solidFill>
                <a:latin typeface="Malgun Gothic"/>
                <a:ea typeface="Malgun Gothic"/>
                <a:cs typeface="Malgun Gothic"/>
              </a:rPr>
              <a:t>10 / 10</a:t>
            </a:r>
          </a:p>
        </p:txBody>
      </p:sp>
      <p:pic>
        <p:nvPicPr>
          <p:cNvPr id="7" name="Picture 6" descr="stic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5394960" cy="5394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94960" y="1234440"/>
            <a:ext cx="621792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8EA"/>
                </a:solidFill>
                <a:latin typeface="Malgun Gothic"/>
                <a:ea typeface="Malgun Gothic"/>
                <a:cs typeface="Malgun Gothic"/>
              </a:rPr>
              <a:t>DungeonFront 2.0에
함께할 팀원을 구합니다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2697480"/>
            <a:ext cx="62179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C4A35A"/>
                </a:solidFill>
                <a:latin typeface="Malgun Gothic"/>
                <a:ea typeface="Malgun Gothic"/>
                <a:cs typeface="Malgun Gothic"/>
              </a:rPr>
              <a:t>초심자 지원 가능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3429000"/>
            <a:ext cx="6126480" cy="1737360"/>
          </a:xfrm>
          <a:prstGeom prst="roundRect">
            <a:avLst>
              <a:gd name="adj" fmla="val 6000"/>
            </a:avLst>
          </a:prstGeom>
          <a:solidFill>
            <a:srgbClr val="36261C"/>
          </a:solidFill>
          <a:ln w="14604">
            <a:solidFill>
              <a:srgbClr val="C4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3566160"/>
            <a:ext cx="57607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6EFD9"/>
                </a:solidFill>
                <a:latin typeface="Malgun Gothic"/>
                <a:ea typeface="Malgun Gothic"/>
                <a:cs typeface="Malgun Gothic"/>
              </a:rPr>
              <a:t>개발 중 프로젝트의 진입 장벽? 스파게티 코드? 아예 없습니다!
새 컨텐츠를 백지부터 같이 시작할 팀원들을 구합니다.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5349240"/>
            <a:ext cx="6126480" cy="457200"/>
          </a:xfrm>
          <a:prstGeom prst="roundRect">
            <a:avLst>
              <a:gd name="adj" fmla="val 50000"/>
            </a:avLst>
          </a:prstGeom>
          <a:solidFill>
            <a:srgbClr val="A85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5349240"/>
            <a:ext cx="61264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>
                <a:solidFill>
                  <a:srgbClr val="FFF8EA"/>
                </a:solidFill>
                <a:latin typeface="Malgun Gothic"/>
                <a:ea typeface="Malgun Gothic"/>
                <a:cs typeface="Malgun Gothic"/>
              </a:rPr>
              <a:t>팀장 연락(윤성원) - 010-6667-1138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